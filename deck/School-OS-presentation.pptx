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1A2C"/>
                </a:solidFill>
                <a:latin typeface="Calibri"/>
              </a:rPr>
              <a:t>Kostnader år 1 (tkr)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Kostnad år 1</c:v>
                </c:pt>
              </c:strCache>
            </c:strRef>
          </c:tx>
          <c:spPr>
            <a:solidFill>
              <a:srgbClr val="5B87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648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Utveckling</c:v>
                  </c:pt>
                  <c:pt idx="1">
                    <c:v>Drift och hosting</c:v>
                  </c:pt>
                  <c:pt idx="2">
                    <c:v>Sälj och marknad</c:v>
                  </c:pt>
                  <c:pt idx="3">
                    <c:v>Juridik och GDPR</c:v>
                  </c:pt>
                  <c:pt idx="4">
                    <c:v>Övrigt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1450</c:v>
                </c:pt>
                <c:pt idx="1">
                  <c:v>120</c:v>
                </c:pt>
                <c:pt idx="2">
                  <c:v>380</c:v>
                </c:pt>
                <c:pt idx="3">
                  <c:v>150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A648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8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1A2C"/>
                </a:solidFill>
                <a:latin typeface="Calibri"/>
              </a:rPr>
              <a:t>Intäkter mot kostnader (tkr)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Intäkter</c:v>
                </c:pt>
              </c:strCache>
            </c:strRef>
          </c:tx>
          <c:spPr>
            <a:solidFill>
              <a:srgbClr val="5B87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484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År 1</c:v>
                  </c:pt>
                  <c:pt idx="1">
                    <c:v>År 2</c:v>
                  </c:pt>
                  <c:pt idx="2">
                    <c:v>År 3</c:v>
                  </c:pt>
                  <c:pt idx="3">
                    <c:v>År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1250</c:v>
                </c:pt>
                <c:pt idx="2">
                  <c:v>3400</c:v>
                </c:pt>
                <c:pt idx="3">
                  <c:v>6800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Kostnader</c:v>
                </c:pt>
              </c:strCache>
            </c:strRef>
          </c:tx>
          <c:spPr>
            <a:solidFill>
              <a:srgbClr val="C8D2E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484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År 1</c:v>
                  </c:pt>
                  <c:pt idx="1">
                    <c:v>År 2</c:v>
                  </c:pt>
                  <c:pt idx="2">
                    <c:v>År 3</c:v>
                  </c:pt>
                  <c:pt idx="3">
                    <c:v>År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2200</c:v>
                </c:pt>
                <c:pt idx="1">
                  <c:v>2900</c:v>
                </c:pt>
                <c:pt idx="2">
                  <c:v>3300</c:v>
                </c:pt>
                <c:pt idx="3">
                  <c:v>4200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A648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8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48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School OS är byggt och kör som en fungerande prototyp i webbläsaren. Den här dragningen går igenom vad produkten är, hur den ska tjäna pengar, vad den kostar att bygga, hur den distribueras och hur vi säljer 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Poängen: vi konkurrerar inte med Google Classroom eller Microsoft på funktion — vi konkurrerar på att allt ligger på samma yta.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Nyckelbilden: den delade vyn. Lärarens eget dokument till vänster, elevens chatt till höger — det är hela produktidén i en bild.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Alla fyra är byggda och fungerar i prototypen. Formlerna räknas ut på riktigt.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Läromedlet är den delen som kräver förlagsavtal. I prototypen finns en egen exempelbok som visar läsaren.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Poängen längst ner är den viktiga: en lärare ser bara det som skickats till just det kontot. Det är inte en inställning utan hur lagringen är byggd.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Rollerna är inte kosmetiska. Byter man konto byts flikar, data och kontakter 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Läsårsavtal, fakturering per termin. Uppgraderingen från Bas till Full är den viktigaste intäktsmotorn.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 tydlig med att detta är antaganden. Om någon frågar var siffrorna kommer ifrån: de ska verifieras mot Skolverket innan de används i ett skarpt underlag.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Största posten är utveckling: två utvecklare på deltid i tolv månader. Sälj och marknad är medvetet lågt — vi säljer via piloter, inte via annonsering.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Break-even under år 3 förutsätter att år 2 landar de första betalande avtalen. Blir det förskjutet ett år måste kassan täcka ytterligare cirka 3 miljoner.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Webben är också ett säljargument: ingen IT-avdelning behöver installera något, vilket tar bort ett vanligt hinder i skolan.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 den här bilden själv innan någon annan gör det. Att kunna sina risker är det som skiljer en plan från en önskelista.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Allt på första raden är byggt och går att visa live. Det är det starkaste kortet vi har i ett pilotsamtal.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Avsluta med att visa prototypen live om det finns tid. Frågan tillbaka: vilken skola kan bli pilot nummer ett?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1828800" y="-3108960"/>
            <a:ext cx="10058400" cy="10058400"/>
          </a:xfrm>
          <a:prstGeom prst="roundRect">
            <a:avLst>
              <a:gd name="adj" fmla="val 545"/>
            </a:avLst>
          </a:prstGeom>
          <a:solidFill>
            <a:srgbClr val="18203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298448"/>
            <a:ext cx="786384" cy="786384"/>
          </a:xfrm>
          <a:prstGeom prst="roundRect">
            <a:avLst>
              <a:gd name="adj" fmla="val 11628"/>
            </a:avLst>
          </a:prstGeom>
          <a:solidFill>
            <a:srgbClr val="5B87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98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OS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skolsystem där lektionen, läromedlet, dokumentet och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samtalet ligger i samma fönster.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Produktintroduktion · Affärsplan · Budget · Distribution · Försäljning</a:t>
            </a:r>
            <a:endParaRPr lang="en-US" sz="1200" dirty="0"/>
          </a:p>
        </p:txBody>
      </p:sp>
      <p:pic>
        <p:nvPicPr>
          <p:cNvPr id="8" name="Image 0" descr="/home/user/Wproz/deck/shots/01-login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63040"/>
            <a:ext cx="3657600" cy="255494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18120" y="4224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Fungerande prototyp · wlmrcarlsson-hue.github.io/Wproz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skoldag utspridd över sex inloggningar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760720" cy="105156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3911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2B57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39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Läraren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134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 ett system, uppgifter i ett annat, omdömen i ett tredje. Ingen av dem pratar med varandra.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990088"/>
            <a:ext cx="5760720" cy="105156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461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2173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1729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5204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Anteckningar i Word, uppgiften i lärplattformen, läromedlet i en PDF, frågan till läraren i mejlen.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197096"/>
            <a:ext cx="5760720" cy="105156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45312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D247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453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3799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Föräldern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72744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sällan mer än en betygsrad. Får sin bild av skolan via eleven.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1783080"/>
            <a:ext cx="4892040" cy="3584448"/>
          </a:xfrm>
          <a:prstGeom prst="roundRect">
            <a:avLst>
              <a:gd name="adj" fmla="val 1020"/>
            </a:avLst>
          </a:prstGeom>
          <a:solidFill>
            <a:srgbClr val="0E14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86600" y="2084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Kostnaden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4688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Tiden går åt till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 byta flik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657600"/>
            <a:ext cx="4160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Varje byte kostar uppmärksamhet, och varje system har sin egen inloggning, sitt eget utseende och sin egen logik.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av delarna är dålig. Problemet är att de aldrig var tänkta att sitta ihop.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LÖSNINGEN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Ett fönster, fyra ytor, tre roller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OS samlar schema, uppgifter, läromedel, dokument och kommunikation i ett gränssnitt med flikar som går att docka sida vid sida.</a:t>
            </a:r>
            <a:endParaRPr lang="en-US" sz="1400" dirty="0"/>
          </a:p>
        </p:txBody>
      </p:sp>
      <p:pic>
        <p:nvPicPr>
          <p:cNvPr id="5" name="Image 0" descr="/home/user/Wproz/deck/shots/11-split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77440"/>
            <a:ext cx="6583680" cy="34308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8978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Delad vy: dokumentet till vänster, chatten med eleven till höger.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749808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498080" y="174650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Lärare, elev och förälder ser olika appar och olika data — samma system.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2587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Arbetsytan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498080" y="291693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PowerPoint och OneNote i en app-väljare på fliken.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498080" y="37581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Läromedel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408736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Böcker som läses som uppslag eller enkelsidor, direkt i vyn.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49286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Delning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0" y="52578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dokument skickas med ett meddelande och landar i rätt chatt.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 · ARBETSYTAN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Fyra verktyg bakom en pil</a:t>
            </a:r>
            <a:endParaRPr lang="en-US" sz="3400" dirty="0"/>
          </a:p>
        </p:txBody>
      </p:sp>
      <p:pic>
        <p:nvPicPr>
          <p:cNvPr id="4" name="Image 0" descr="/home/user/Wproz/deck/shots/02-switcher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989320" cy="22459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384048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Pilen på fliken öppnar app-väljaren. Fliken byter namn och ikon, och katalogen visar den valda appens filer.</a:t>
            </a:r>
            <a:endParaRPr lang="en-US" sz="1200" dirty="0"/>
          </a:p>
        </p:txBody>
      </p:sp>
      <p:pic>
        <p:nvPicPr>
          <p:cNvPr id="6" name="Image 1" descr="/home/user/Wproz/deck/shots/04-excel-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498848"/>
            <a:ext cx="5989320" cy="18240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03720" y="1481328"/>
            <a:ext cx="4709160" cy="9144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178040" y="165506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B579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178040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699248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699248" y="18928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 textredigerare med rubriker, listor och formatering.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903720" y="2523744"/>
            <a:ext cx="4709160" cy="9144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78040" y="269748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17346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17804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699248" y="2642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7699248" y="293522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Kalkylblad med formelfält: SUMMA, MEDEL, MIN, MAX, ANTAL och cellreferenser.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903720" y="3566160"/>
            <a:ext cx="4709160" cy="9144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78040" y="373989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24726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178040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699248" y="3685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699248" y="39776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Bildremsa med miniatyrer och en 16:9-yta för rubrik och innehåll.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903720" y="4608576"/>
            <a:ext cx="4709160" cy="9144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178040" y="4782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7719A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178040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699248" y="4727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OneNote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7699248" y="502005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Rityta med penna, sudd, fyllning, zoom och stående eller liggande sida.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 · ÄMNEN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Läromedlet ligger i systemet, inte bredvid det</a:t>
            </a:r>
            <a:endParaRPr lang="en-US" sz="3400" dirty="0"/>
          </a:p>
        </p:txBody>
      </p:sp>
      <p:pic>
        <p:nvPicPr>
          <p:cNvPr id="4" name="Image 0" descr="/home/user/Wproz/deck/shots/07-book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6949440" cy="36214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3492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Boken bryts i riktiga spalter och sidas om som ett uppslag. I en delad vy växlar den automatiskt till enkelsida med egen scroll.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863840" y="1627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Uppslag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195681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Två sidor sida vid sida, med marginal och bunt som i en tryckt bok.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7863840" y="2999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Enkelsida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332841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kapitel per sida, som alltid börjar överst — aldrig mitt i en mening.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4370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Innehåll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470001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Kapitelnavigering, lässtatus och sparad position per bok.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 · DELNING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Från elevens dokument till lärarens inkorg</a:t>
            </a:r>
            <a:endParaRPr lang="en-US" sz="3400" dirty="0"/>
          </a:p>
        </p:txBody>
      </p:sp>
      <p:pic>
        <p:nvPicPr>
          <p:cNvPr id="4" name="Image 0" descr="/home/user/Wproz/deck/shots/08-send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5394960" cy="2622550"/>
          </a:xfrm>
          <a:prstGeom prst="rect">
            <a:avLst/>
          </a:prstGeom>
        </p:spPr>
      </p:pic>
      <p:pic>
        <p:nvPicPr>
          <p:cNvPr id="5" name="Image 1" descr="/home/user/Wproz/deck/shots/09-shared-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370832"/>
            <a:ext cx="5394960" cy="1775981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492240" y="169164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5B87F5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64922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4"/>
          <p:cNvSpPr txBox="1"/>
          <p:nvPr/>
        </p:nvSpPr>
        <p:spPr>
          <a:xfrm>
            <a:off x="7059168" y="1664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väljer mottagare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7059168" y="19933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Dokumentet erbjuder först den lärare vars ämne det tillhör.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492240" y="297180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5B87F5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492240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7059168" y="2944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Skriver ett meddelande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7059168" y="327355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Texten läggs in som ett vanligt inlägg, dokumentet direkt under.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92240" y="425196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5B87F5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4922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7059168" y="42245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Läraren öppnar det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7059168" y="455371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 stannar hos sin ägare — mottagaren får en skrivskyddad vy.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92240" y="553212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0E1428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766560" y="56692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konversation tillhör paret av konton — inte en av dem. Loggar du in som en annan lärare är samma elevs chatt tom.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 · KONTON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roller, tre olika system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Kontot väljs vid inloggning och avgör allt: vilka flikar som finns, vilka data som visas och vem man kan prata med.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194560"/>
            <a:ext cx="3520440" cy="2148840"/>
          </a:xfrm>
          <a:prstGeom prst="roundRect">
            <a:avLst>
              <a:gd name="adj" fmla="val 212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9536" y="2450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B579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9536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35608" y="25054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Lärare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86968" y="312724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Inlämningar för sitt eget ämne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Elevlista och kollegielista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Egen arbetsyta och egna filer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bara det som skickats till kontot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61688" y="2194560"/>
            <a:ext cx="3520440" cy="2148840"/>
          </a:xfrm>
          <a:prstGeom prst="roundRect">
            <a:avLst>
              <a:gd name="adj" fmla="val 212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54296" y="2450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54296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5230368" y="25054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681728" y="312724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Uppgifter med egen status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lärare i chatten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Arbetsyta med alla fyra appar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Läromedel per ämne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56448" y="2194560"/>
            <a:ext cx="3520440" cy="2148840"/>
          </a:xfrm>
          <a:prstGeom prst="roundRect">
            <a:avLst>
              <a:gd name="adj" fmla="val 212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49056" y="2450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2472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49056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9025128" y="25054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Förälder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476488" y="312724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Följer sitt eget barn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Barnets uppgifter och omdömen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 med barnets lärare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åtkomst till elevens filer</a:t>
            </a:r>
            <a:endParaRPr lang="en-US" sz="1150" dirty="0"/>
          </a:p>
        </p:txBody>
      </p:sp>
      <p:pic>
        <p:nvPicPr>
          <p:cNvPr id="21" name="Image 0" descr="/home/user/Wproz/deck/shots/10-submissions-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846320"/>
            <a:ext cx="6400800" cy="1259579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2376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Lärarvyn: samma uppgift, alla elever i klassen — och bara det egna ämnet.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498080" y="-2011680"/>
            <a:ext cx="8229600" cy="8229600"/>
          </a:xfrm>
          <a:prstGeom prst="roundRect">
            <a:avLst>
              <a:gd name="adj" fmla="val 667"/>
            </a:avLst>
          </a:prstGeom>
          <a:solidFill>
            <a:srgbClr val="18203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2860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5B87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Affären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Affärsmodell · Marknad · Budget · Distribution · Försäljning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AFFÄRSPLAN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Skolan betalar per elev och läsår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20440" cy="3200400"/>
          </a:xfrm>
          <a:prstGeom prst="roundRect">
            <a:avLst>
              <a:gd name="adj" fmla="val 142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938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kr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elev och läsår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3375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och uppgifter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 och konton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E-postsupport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1691640"/>
            <a:ext cx="3520440" cy="3200400"/>
          </a:xfrm>
          <a:prstGeom prst="roundRect">
            <a:avLst>
              <a:gd name="adj" fmla="val 1143"/>
            </a:avLst>
          </a:prstGeom>
          <a:solidFill>
            <a:srgbClr val="0E1428"/>
          </a:solidFill>
          <a:ln/>
          <a:effectLst>
            <a:outerShdw sx="100000" sy="100000" kx="0" ky="0" algn="bl" rotWithShape="0" blurRad="152400" dist="38100" dir="5400000">
              <a:srgbClr val="5A6484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81728" y="1938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 kr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elev och läsår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3375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 i Bas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Arbetsytan med fyra appar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Läromedelshylla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Delning och inlämning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inom 24 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520440" cy="3200400"/>
          </a:xfrm>
          <a:prstGeom prst="roundRect">
            <a:avLst>
              <a:gd name="adj" fmla="val 142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76488" y="1938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76488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Offert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476488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från 20 000 elever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76488" y="33375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 i Full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och Skolfederation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Egen datahantering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Utbildning på plats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Namngiven kontakt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074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Priserna är satta av oss och ännu inte testade mot en köpare. De ska valideras i de första pilotsamtalen.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AFFÄRSPLAN · MARKNAD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Marknaden vi räknar på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737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8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~380 000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395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elever i svensk gymnasieskola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61688" y="1554480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81728" y="1737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8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~1 300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2395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gymnasieskolor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56448" y="1554480"/>
            <a:ext cx="3520440" cy="1463040"/>
          </a:xfrm>
          <a:prstGeom prst="roundRect">
            <a:avLst>
              <a:gd name="adj" fmla="val 312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76488" y="1737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8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476488" y="2395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kommuner som huvudmän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32918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 räknar vi hem den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37307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marknad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3730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380 000 elever × 89 kr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760720" y="37307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Mkr per läsår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42976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Realistisk andel år 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291840" y="4297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 av eleverna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760720" y="4297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 Mkr per läsår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48646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det betyder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48646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11 400 elever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760720" y="4864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30 skolor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275320" y="3291840"/>
            <a:ext cx="3337560" cy="1965960"/>
          </a:xfrm>
          <a:prstGeom prst="roundRect">
            <a:avLst>
              <a:gd name="adj" fmla="val 1860"/>
            </a:avLst>
          </a:prstGeom>
          <a:solidFill>
            <a:srgbClr val="0E142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49640" y="35204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Läs siffrorna som antaganden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549640" y="42062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Elev- och skolantalen är ungefärliga och ska stämmas av mot Skolverkets officiella statistik innan de används skarpt. Andelen på 3 % är ett mål, inte en prognos.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Avser gymnasiet i Sverige. Grundskolan (~1,1 miljoner elever) är en möjlig utvidgning, inte del av kalkylen.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 år 1 kostar att bygga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08760"/>
          <a:ext cx="6492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315200" y="16002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315200" y="2011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Utveckling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0241280" y="2011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1 450 tkr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7315200" y="22677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utvecklare på deltid, 12 mån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315200" y="2724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och hosting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0241280" y="2724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tkr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315200" y="2980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Servrar, domän, backup, certifikat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34381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Sälj och marknad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0241280" y="3438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tkr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0" y="36941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Mässor, material, resor, pilotstöd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7315200" y="41513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Juridik och GDPR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0241280" y="4151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tkr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315200" y="44074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Personuppgiftsbiträdesavtal, DPIA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7315200" y="4864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Övrigt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0241280" y="4864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tkr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315200" y="5120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Bolag, försäkring, verktyg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315200" y="5577840"/>
            <a:ext cx="4297680" cy="658368"/>
          </a:xfrm>
          <a:prstGeom prst="roundRect">
            <a:avLst>
              <a:gd name="adj" fmla="val 8333"/>
            </a:avLst>
          </a:prstGeom>
          <a:solidFill>
            <a:srgbClr val="0E1428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589520" y="57241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Totalt år 1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9418320" y="57058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8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2 200 tkr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PROGNOS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Break-even under år 3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46304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092440" y="15727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 1 · 2 pilotskolor, gratis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8092440" y="186537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intäkt att tala om — vi köper referenser.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8092440" y="2670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 2 · 1 400 elever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296265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Första betalande avtalen, en kommun i pilot.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37673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 3 · 3 800 elever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8092440" y="405993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Intäkterna passerar kostnaderna.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092440" y="4864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 4 · 7 600 elever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515721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Positivt kassaflöde, expansion till grundskolan.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 bygger på 89 kr per elev och läsår och de kundantal som anges. Byt en siffra och kurvan flyttar sig — den är till för att diskuteras, inte för att tros på.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 installation, ingen app-butik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OS är en webbsida. Skolan får en adress, eleverna loggar in i den webbläsare de redan har, och uppdateringar når alla samtidigt.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240280"/>
            <a:ext cx="5321808" cy="1298448"/>
          </a:xfrm>
          <a:prstGeom prst="roundRect">
            <a:avLst>
              <a:gd name="adj" fmla="val 35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9536" y="25146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87F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9536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35608" y="24780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Webben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435608" y="284378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Körs i webbläsaren på dator, Chromebook och surfplatta. Inget att installera, inget att uppdatera lokalt.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2240280"/>
            <a:ext cx="5321808" cy="1298448"/>
          </a:xfrm>
          <a:prstGeom prst="roundRect">
            <a:avLst>
              <a:gd name="adj" fmla="val 35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01968" y="25146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B579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01968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24780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Skolans egen adress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7178040" y="284378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skola.schoolos.se, eller på skolans domän. Data ligger i EU.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3749040"/>
            <a:ext cx="5321808" cy="1298448"/>
          </a:xfrm>
          <a:prstGeom prst="roundRect">
            <a:avLst>
              <a:gd name="adj" fmla="val 35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9536" y="402336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1734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59536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435608" y="39867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Inloggning skolan redan har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1435608" y="435254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Koppling till Skolfederation och Microsoft/Google-konton, så ingen ny lösenordshantering.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309360" y="3749040"/>
            <a:ext cx="5321808" cy="1298448"/>
          </a:xfrm>
          <a:prstGeom prst="roundRect">
            <a:avLst>
              <a:gd name="adj" fmla="val 35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01968" y="402336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D2472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601968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178040" y="39867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Uppdatering utan avbrott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7178040" y="435254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version i drift. Rättningar når varje skola samma dag, utan IT-avdelningens hjälp.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Prototypen ligger redan publikt på GitHub Pages — samma distributionsmodell, i mindre skala.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FÖRSÄLJNING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 säljer till läraren och stänger med rektorn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578608" cy="2194560"/>
          </a:xfrm>
          <a:prstGeom prst="roundRect">
            <a:avLst>
              <a:gd name="adj" fmla="val 1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8366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87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3230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Läraren provar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01752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konto, ingen upphandling. En lärare som testar arbetsytan på en lektion är vår bästa säljare.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9856" y="1627632"/>
            <a:ext cx="2578608" cy="2194560"/>
          </a:xfrm>
          <a:prstGeom prst="roundRect">
            <a:avLst>
              <a:gd name="adj" fmla="val 1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94176" y="188366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87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94176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94176" y="243230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Skolan pilotar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94176" y="301752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termin gratis för en hel klass eller ett arbetslag. Vi mäter tid sparad och gör en kort rapport.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2784" y="1627632"/>
            <a:ext cx="2578608" cy="2194560"/>
          </a:xfrm>
          <a:prstGeom prst="roundRect">
            <a:avLst>
              <a:gd name="adj" fmla="val 1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47104" y="188366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87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47104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47104" y="243230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Rektorn köper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47104" y="301752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Piloten blir underlag. Beslutet ligger under direktupphandlingsgränsen, så det går snabbt.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25712" y="1627632"/>
            <a:ext cx="2578608" cy="2194560"/>
          </a:xfrm>
          <a:prstGeom prst="roundRect">
            <a:avLst>
              <a:gd name="adj" fmla="val 1667"/>
            </a:avLst>
          </a:prstGeom>
          <a:solidFill>
            <a:srgbClr val="0E1428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00032" y="188366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5B87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00032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400032" y="243230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Kommunen skalar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400032" y="301752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två till tre skolor som referens går vi till huvudmannen och tar hela kommunen.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1605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den vägen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4553712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offentlig upphandling tar ett till två år och kräver referenser vi inte har än.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enskild skola kan köpa direkt så länge summan håller sig under direktupphandlingsgränsen.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Lärare pratar med varandra: den bästa kanalen in i nästa skola är den förra skolans lärarrum.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55280" y="4160520"/>
            <a:ext cx="3657600" cy="1463040"/>
          </a:xfrm>
          <a:prstGeom prst="roundRect">
            <a:avLst>
              <a:gd name="adj" fmla="val 3750"/>
            </a:avLst>
          </a:prstGeom>
          <a:solidFill>
            <a:srgbClr val="F4F6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0" y="4370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 år 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709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pilotskolor, 40 aktiva lärare, en dokumenterad tidsbesparing att sälja på.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Vad som kan fälla det här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66928" y="1508760"/>
            <a:ext cx="11064240" cy="822960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8680" y="16276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och Microsoft är gratis för skolan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91109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konkurrerar inte på funktion utan på att allt ligger på en yta. Håller inte det argumentet finns ingen affär.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378440" y="1746504"/>
            <a:ext cx="960120" cy="347472"/>
          </a:xfrm>
          <a:prstGeom prst="roundRect">
            <a:avLst>
              <a:gd name="adj" fmla="val 31579"/>
            </a:avLst>
          </a:prstGeom>
          <a:solidFill>
            <a:srgbClr val="D2472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378440" y="174650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441448"/>
            <a:ext cx="11064240" cy="822960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68680" y="2560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Skolans inköp går långsamt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84378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läsår kan gå mellan intresse och avtal. Kassan måste tåla det.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378440" y="2679192"/>
            <a:ext cx="960120" cy="347472"/>
          </a:xfrm>
          <a:prstGeom prst="roundRect">
            <a:avLst>
              <a:gd name="adj" fmla="val 31579"/>
            </a:avLst>
          </a:prstGeom>
          <a:solidFill>
            <a:srgbClr val="D2472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378440" y="26791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" y="3374136"/>
            <a:ext cx="11064240" cy="822960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68680" y="34930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Personuppgifter om barn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77647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Skolan är personuppgiftsansvarig och kommer att granska oss hårt. GDPR-arbetet måste vara klart före första piloten, inte efter.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378440" y="3611880"/>
            <a:ext cx="960120" cy="347472"/>
          </a:xfrm>
          <a:prstGeom prst="roundRect">
            <a:avLst>
              <a:gd name="adj" fmla="val 31579"/>
            </a:avLst>
          </a:prstGeom>
          <a:solidFill>
            <a:srgbClr val="D2472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378440" y="36118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" y="4306824"/>
            <a:ext cx="11064240" cy="822960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68680" y="44256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Läromedel kräver avtal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470916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Hyllan är tom utan förlagen. Alternativet är skolans eget material först.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378440" y="4544568"/>
            <a:ext cx="960120" cy="347472"/>
          </a:xfrm>
          <a:prstGeom prst="roundRect">
            <a:avLst>
              <a:gd name="adj" fmla="val 31579"/>
            </a:avLst>
          </a:prstGeom>
          <a:solidFill>
            <a:srgbClr val="5B87F5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378440" y="45445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66928" y="5239512"/>
            <a:ext cx="11064240" cy="822960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25400" dir="5400000">
              <a:srgbClr val="9AA6C4">
                <a:alpha val="2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68680" y="5358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Prototypen är inte en produkt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" y="564184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 ligger i webbläsaren i dag. Konton, server och synk är kvar att bygga.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378440" y="5477256"/>
            <a:ext cx="960120" cy="347472"/>
          </a:xfrm>
          <a:prstGeom prst="roundRect">
            <a:avLst>
              <a:gd name="adj" fmla="val 31579"/>
            </a:avLst>
          </a:prstGeom>
          <a:solidFill>
            <a:srgbClr val="5B87F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378440" y="547725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Från prototyp till första betalande skola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66928" y="165506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1734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6928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Klart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16550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7335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 och konton, arbetsytan med fyra appar, läromedelsläsare, delning, delad vy, fem UI-stilar.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24963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5B87F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532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1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24963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514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Riktiga konton, server, synk mellan enheter, GDPR-arbetet och personuppgiftsbiträdesavtal.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333756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5B87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3374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2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2148840" y="33375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35584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Två skolor, 40 lärare. Vi mäter användning och tid, och rättar det som skaver.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41788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5B87F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66928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4215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3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2148840" y="41788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Integrationer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419709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Skolfederation, Microsoft- och Google-inloggning, import av klasslistor.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66928" y="502005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5B87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66928" y="5020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5056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4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2148840" y="50200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Första avtalen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503834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Betalande skolor, fakturering, support med utlovad svarstid.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66928" y="59436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68680" y="605332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 under "Klart" går att prova i dag på wlmrcarlsson-hue.github.io/Wproz — det är inte en mockup.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2743200" y="3108960"/>
            <a:ext cx="10058400" cy="9144000"/>
          </a:xfrm>
          <a:prstGeom prst="roundRect">
            <a:avLst>
              <a:gd name="adj" fmla="val 600"/>
            </a:avLst>
          </a:prstGeom>
          <a:solidFill>
            <a:srgbClr val="18203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3716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5B87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Produkten finns.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 ska den säljas.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söker två pilotskolor för höstterminen och 2,2 Mkr för att ta prototypen till en driftsatt produkt.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2377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8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pilotskolor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732520" y="2377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8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873252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Mkr år 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0" y="2377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8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6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mån till avtal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wlmrcarlsson-hue.github.io/Wproz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School 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OS — produkt, affärsplan och lansering</dc:title>
  <dc:subject>PptxGenJS Presentation</dc:subject>
  <dc:creator>School OS</dc:creator>
  <cp:lastModifiedBy>School OS</cp:lastModifiedBy>
  <cp:revision>1</cp:revision>
  <dcterms:created xsi:type="dcterms:W3CDTF">2026-08-30T18:35:22Z</dcterms:created>
  <dcterms:modified xsi:type="dcterms:W3CDTF">2026-08-30T18:35:22Z</dcterms:modified>
</cp:coreProperties>
</file>